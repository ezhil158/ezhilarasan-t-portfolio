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81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BC758-6F39-88BB-A3D8-A56E697F0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874DDB-77D3-D82A-BBF0-7781E9173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2F45-87FE-75B3-597F-1014078E7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FCB81-BBEE-AF08-6662-5ED7307B1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21EC0-3D76-4A1B-F771-4E6C812D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114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0C4BE-8716-18DE-B72B-8A184C840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5616B-E5E3-FA3C-1913-A4FBD10B9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A0068-80A5-0232-53C5-C176A2644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A5288-9227-59C2-3478-077F39C0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C9E5D-DACA-CC1B-62F5-622B14A0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068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FECD-BF12-1078-526A-33E6A5F7B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30C98-B9E2-D74B-4990-BC3151125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C9B98-2259-CD48-F2C0-44C38F35F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23DDC-04D9-1C16-9D7F-39C04A36C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9F84B-DB1F-3E9C-4787-A0BC775D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902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77078-DE41-3F45-4B2B-14A0962E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422CA-15F9-B93C-F763-819A9D9954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3F26E-3383-E94F-E997-5C9B41F6E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52F0D-EFD0-9B1A-C0C3-4B39C5CB1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8F291-A4F0-A19F-C38A-7BA95A26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A3E95-66FC-A2D7-E634-B762F88C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831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14F70-6F8E-7186-24FB-C05218A84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BB5FB-B7BB-52C9-1582-E298E22FC1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3813E-1C41-A453-E204-4A3D3C7BF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FE9C3-77B1-8AC8-3242-771D270BE6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45C9A8-EF90-BFA8-FDE2-B817138939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E8ECAB-F2CC-F02D-8B8A-7633AF42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E95813-18BD-7DAC-3C89-3345079F4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473671-EE50-B219-7E08-5335EF770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93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33BBD-C600-F7E1-BA35-89D7500D9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632B4D-A8EF-EA21-FA43-CA175E0F5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FDEB27-8202-63E8-0EC4-7372B7686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DEB172-8EF6-B8FB-E248-DC52CBC8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7162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7AFDF5-1681-FCDB-1333-3AF0DDFBF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DCF61F-6F32-F82F-3155-E0D1485DB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53149A-D17D-E028-AA68-406E874B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2717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ADBA9-3185-82AC-A121-AC84542FE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F48AC-79A5-9ABF-B07D-A49987E9F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B1D5F-9E33-0128-E62D-748832F09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ACF63-2C5B-7901-904C-97CC5D20E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31E508-CEAD-4205-86E7-E988666B8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D47098-725B-F33D-A7FC-2F59B01ED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6799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A5D57-987C-4809-AFB8-EFCA594A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82DE08-D035-1255-D02F-8545DAAAD1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0515EE-20B9-74B4-1FF3-17058CAEA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17E5C-234C-CC43-D96A-0A017E26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F53FC-6E92-17F9-579B-BB323B3A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219FE-19FB-0CC1-5837-F26CC964A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936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A7256-E422-FAC2-6293-72750752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05C98E-301C-718C-7D31-FCC42F3FA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DF174-C926-90ED-5E43-179AF0CAF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DE5C2-4AAF-C933-8A54-1F27A33EA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0CCA2-C1E0-8DE1-66AE-6D2D2246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556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BEE72-CCE3-B8D2-B98D-10E17EC64F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FF66F-400B-AE27-F8CD-ACC957FAD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6C350-7BA9-3B8E-4F9C-FF1627814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47A8C-7A5F-E277-E911-CF928E306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E6D4-BB15-1605-3C45-9E79CB71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725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2AAEDE-5ACA-4BA9-251F-1F2E40923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3C121-7B19-FE8E-B26E-965C84313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B1A18-E9CD-750E-AC18-00D31072C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3FD30-26A3-456C-A511-7A00060A1204}" type="datetimeFigureOut">
              <a:rPr lang="en-IN" smtClean="0"/>
              <a:t>26-10-2025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27A1A-BC2F-5AB0-305B-F6E2A002E2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BDE71-DB65-FB2B-145D-FCE2DA1B2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79749-3946-446D-9022-5D9B25D4CB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824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D4CF-CFEF-8E8C-4E1C-7FAA1EF54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875" y="3158331"/>
            <a:ext cx="11734800" cy="1414462"/>
          </a:xfrm>
        </p:spPr>
        <p:txBody>
          <a:bodyPr>
            <a:noAutofit/>
          </a:bodyPr>
          <a:lstStyle/>
          <a:p>
            <a:r>
              <a:rPr lang="en-IN" sz="4400" b="1" dirty="0"/>
              <a:t>REAL-TIME SOLDIER VITAL SIGNS,GPS TRACKING AND GAS HAZARD ALERT DEVICE</a:t>
            </a:r>
            <a:br>
              <a:rPr lang="en-IN" sz="4400" dirty="0"/>
            </a:b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A2142A-1B83-2294-9F54-246468B1A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34153" y="4909545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TEAM MEMBERS:</a:t>
            </a:r>
          </a:p>
          <a:p>
            <a:r>
              <a:rPr lang="en-IN" dirty="0"/>
              <a:t>EZHILARASAN T (211423104157)</a:t>
            </a:r>
          </a:p>
          <a:p>
            <a:r>
              <a:rPr lang="en-IN" dirty="0"/>
              <a:t>GOWRISANKAR D (21142104181)</a:t>
            </a:r>
          </a:p>
          <a:p>
            <a:r>
              <a:rPr lang="en-IN" b="1" dirty="0"/>
              <a:t>Guide Name: </a:t>
            </a:r>
            <a:r>
              <a:rPr lang="en-IN" dirty="0" err="1"/>
              <a:t>Dr.P.Deepa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DAF475-0762-23AB-B542-A117793BE9DD}"/>
              </a:ext>
            </a:extLst>
          </p:cNvPr>
          <p:cNvGrpSpPr/>
          <p:nvPr/>
        </p:nvGrpSpPr>
        <p:grpSpPr>
          <a:xfrm>
            <a:off x="1" y="248646"/>
            <a:ext cx="11774904" cy="1351554"/>
            <a:chOff x="174379" y="61222"/>
            <a:chExt cx="8747590" cy="8330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017383E-C6FC-49E7-A521-82BA6750D5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379" y="61222"/>
              <a:ext cx="1809780" cy="833081"/>
            </a:xfrm>
            <a:prstGeom prst="rect">
              <a:avLst/>
            </a:prstGeom>
          </p:spPr>
        </p:pic>
        <p:pic>
          <p:nvPicPr>
            <p:cNvPr id="6" name="Picture 5" descr="Anna University - Wikipedia">
              <a:extLst>
                <a:ext uri="{FF2B5EF4-FFF2-40B4-BE49-F238E27FC236}">
                  <a16:creationId xmlns:a16="http://schemas.microsoft.com/office/drawing/2014/main" id="{D6A094F9-77C3-45C3-9A48-8D52C03CE8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5085" y="88372"/>
              <a:ext cx="1306884" cy="8059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7ACA5B2-7494-70D8-175E-1A0009147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68992" y="61222"/>
              <a:ext cx="5683309" cy="8330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10336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32E3-0D08-42F3-CDE1-631460CEE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696" y="132883"/>
            <a:ext cx="10515600" cy="1125347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CBCE40C-DE59-071D-20F1-ACD6852CF1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62029"/>
            <a:ext cx="9372600" cy="5878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Introduction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Background and motivation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real-time soldier monitoring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Objectives of the Project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goals and expected outcomes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Literature Survey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 of 10–15 related research works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Statement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Limitations in existing systems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Proposed System Architecture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Overview of IoT-based solution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 and use case diagrams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 Description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300" dirty="0"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Health, environment, GPS, communication, and power modules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 / Methodology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 principle and data flow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and Validation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cases and results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Analysis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Metrics, reliability, and efficiency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Implementation &amp; Screenshots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setup and output results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Achievements and impact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Work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Enhancements and scalability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References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papers and standards followed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208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F984C-D702-6427-E5D9-A40A5C94A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914" y="-521397"/>
            <a:ext cx="10515600" cy="112083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88F5D25-3C0E-6F6A-E451-EEFA5576E5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2835" y="599440"/>
            <a:ext cx="856716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Soldiers face risks from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health issues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toxic gases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communication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during missions.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hazard detection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IoT-based device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tracks a soldier’s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vital signs, location, and gas exposure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sensors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GSM/Wi-Fi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instant alerts.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safety, coordination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response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the battlefield.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BFE3B4-642A-5270-E0B4-CA8D99B0D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45" y="2377441"/>
            <a:ext cx="5322269" cy="1702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7892DB6-96C5-9896-865B-D6791CAF4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35" y="4080336"/>
            <a:ext cx="10571380" cy="255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39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1910-55EE-DB85-E4AF-1E2077859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68" y="-290511"/>
            <a:ext cx="6852318" cy="1207868"/>
          </a:xfrm>
        </p:spPr>
        <p:txBody>
          <a:bodyPr>
            <a:normAutofit/>
          </a:bodyPr>
          <a:lstStyle/>
          <a:p>
            <a:r>
              <a:rPr lang="en-US" sz="4000" dirty="0"/>
              <a:t>LITERATURE SURVEY:</a:t>
            </a: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A6FE3-9567-EF60-C7E7-0F4421CD2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2161" y="1506889"/>
            <a:ext cx="11104880" cy="5111082"/>
          </a:xfrm>
        </p:spPr>
        <p:txBody>
          <a:bodyPr>
            <a:noAutofit/>
          </a:bodyPr>
          <a:lstStyle/>
          <a:p>
            <a:r>
              <a:rPr lang="en-IN" dirty="0">
                <a:solidFill>
                  <a:schemeClr val="tx1"/>
                </a:solidFill>
              </a:rPr>
              <a:t>.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33EDAE-D028-8647-B3C3-0C3B373D8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185083"/>
              </p:ext>
            </p:extLst>
          </p:nvPr>
        </p:nvGraphicFramePr>
        <p:xfrm>
          <a:off x="182881" y="917358"/>
          <a:ext cx="11582399" cy="589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9296">
                  <a:extLst>
                    <a:ext uri="{9D8B030D-6E8A-4147-A177-3AD203B41FA5}">
                      <a16:colId xmlns:a16="http://schemas.microsoft.com/office/drawing/2014/main" val="914901556"/>
                    </a:ext>
                  </a:extLst>
                </a:gridCol>
                <a:gridCol w="2609961">
                  <a:extLst>
                    <a:ext uri="{9D8B030D-6E8A-4147-A177-3AD203B41FA5}">
                      <a16:colId xmlns:a16="http://schemas.microsoft.com/office/drawing/2014/main" val="82190622"/>
                    </a:ext>
                  </a:extLst>
                </a:gridCol>
                <a:gridCol w="1654628">
                  <a:extLst>
                    <a:ext uri="{9D8B030D-6E8A-4147-A177-3AD203B41FA5}">
                      <a16:colId xmlns:a16="http://schemas.microsoft.com/office/drawing/2014/main" val="3631667869"/>
                    </a:ext>
                  </a:extLst>
                </a:gridCol>
                <a:gridCol w="1345312">
                  <a:extLst>
                    <a:ext uri="{9D8B030D-6E8A-4147-A177-3AD203B41FA5}">
                      <a16:colId xmlns:a16="http://schemas.microsoft.com/office/drawing/2014/main" val="2405619299"/>
                    </a:ext>
                  </a:extLst>
                </a:gridCol>
                <a:gridCol w="1491830">
                  <a:extLst>
                    <a:ext uri="{9D8B030D-6E8A-4147-A177-3AD203B41FA5}">
                      <a16:colId xmlns:a16="http://schemas.microsoft.com/office/drawing/2014/main" val="424046682"/>
                    </a:ext>
                  </a:extLst>
                </a:gridCol>
                <a:gridCol w="2004646">
                  <a:extLst>
                    <a:ext uri="{9D8B030D-6E8A-4147-A177-3AD203B41FA5}">
                      <a16:colId xmlns:a16="http://schemas.microsoft.com/office/drawing/2014/main" val="2393765584"/>
                    </a:ext>
                  </a:extLst>
                </a:gridCol>
                <a:gridCol w="1776726">
                  <a:extLst>
                    <a:ext uri="{9D8B030D-6E8A-4147-A177-3AD203B41FA5}">
                      <a16:colId xmlns:a16="http://schemas.microsoft.com/office/drawing/2014/main" val="4160447430"/>
                    </a:ext>
                  </a:extLst>
                </a:gridCol>
              </a:tblGrid>
              <a:tr h="605367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Paper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Venue/Journal &amp;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786786"/>
                  </a:ext>
                </a:extLst>
              </a:tr>
              <a:tr h="164313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Realtime Wireless Embedded Electronics for Soldier Security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Bhargav Jethwa et al.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IEEE ICECCT, 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Embedded system with wireless temperature &amp; pulse monitoring</a:t>
                      </a:r>
                      <a:endParaRPr lang="en-US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Enables basic wearable health tracking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Network coverage, limited sensor variety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40883"/>
                  </a:ext>
                </a:extLst>
              </a:tr>
              <a:tr h="112425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 Real-Time Autonomous Soldier Health Monitoring and Reporting System Using COTS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effectLst/>
                        </a:rPr>
                        <a:t>Kavitha N., </a:t>
                      </a:r>
                      <a:r>
                        <a:rPr lang="en-US" dirty="0" err="1">
                          <a:effectLst/>
                        </a:rPr>
                        <a:t>Madhumathy</a:t>
                      </a:r>
                      <a:r>
                        <a:rPr lang="en-US" dirty="0">
                          <a:effectLst/>
                        </a:rPr>
                        <a:t> P.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ICACCI, 2015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GSM-based, COTS health transmission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Allows real-time soldier health data reporting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Lacks environment or proximity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453989"/>
                  </a:ext>
                </a:extLst>
              </a:tr>
              <a:tr h="1527282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Monitoring and Tracking System for Soldiers Using IoT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Niket Patil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IEEE ICCCA, 2020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IoT, GPS, GSM solution for health and location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Location and health monitoring combined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Dependent on GSM, no environmental sensing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6775775"/>
                  </a:ext>
                </a:extLst>
              </a:tr>
              <a:tr h="80057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462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746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44275-BF8C-D501-2612-B0DD29F73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H="1">
            <a:off x="2407920" y="-1"/>
            <a:ext cx="11064240" cy="233679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9F694-46A7-9D25-1F41-88CC232DE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894081"/>
            <a:ext cx="10515600" cy="5195570"/>
          </a:xfrm>
        </p:spPr>
        <p:txBody>
          <a:bodyPr>
            <a:normAutofit/>
          </a:bodyPr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3E6416-6F42-B3B3-685F-2A53153FD9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9593387"/>
              </p:ext>
            </p:extLst>
          </p:nvPr>
        </p:nvGraphicFramePr>
        <p:xfrm>
          <a:off x="396240" y="233678"/>
          <a:ext cx="11092498" cy="6167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2618">
                  <a:extLst>
                    <a:ext uri="{9D8B030D-6E8A-4147-A177-3AD203B41FA5}">
                      <a16:colId xmlns:a16="http://schemas.microsoft.com/office/drawing/2014/main" val="225807498"/>
                    </a:ext>
                  </a:extLst>
                </a:gridCol>
                <a:gridCol w="2164080">
                  <a:extLst>
                    <a:ext uri="{9D8B030D-6E8A-4147-A177-3AD203B41FA5}">
                      <a16:colId xmlns:a16="http://schemas.microsoft.com/office/drawing/2014/main" val="348491592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68357605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30590811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72507636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01320607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071777808"/>
                    </a:ext>
                  </a:extLst>
                </a:gridCol>
              </a:tblGrid>
              <a:tr h="744308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Venue/Journal &amp;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0982189"/>
                  </a:ext>
                </a:extLst>
              </a:tr>
              <a:tr h="2020264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Novel Wearable Device for Health Monitoring and Tracking of Soldiers Based on LoRa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 err="1">
                          <a:effectLst/>
                        </a:rPr>
                        <a:t>Yashash</a:t>
                      </a:r>
                      <a:r>
                        <a:rPr lang="en-US" dirty="0">
                          <a:effectLst/>
                        </a:rPr>
                        <a:t> Jain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IEEE CICT, 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LoRa-based wearable for long-distance data transfer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Extended communication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No proximity/environment integration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7731152"/>
                  </a:ext>
                </a:extLst>
              </a:tr>
              <a:tr h="170127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Real-time Soldier Health Monitoring System Using IoT and Blynk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G.N.R. Rao, M.V. Sai Bhargavi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IEEE </a:t>
                      </a:r>
                      <a:r>
                        <a:rPr lang="en-US" dirty="0" err="1">
                          <a:effectLst/>
                        </a:rPr>
                        <a:t>ICIoTA</a:t>
                      </a:r>
                      <a:r>
                        <a:rPr lang="en-US" dirty="0">
                          <a:effectLst/>
                        </a:rPr>
                        <a:t>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IoT with Wi-Fi/Blynk app for remote vitals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Remote real-time health visibility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Single-sensor focus, cloud reliance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669363"/>
                  </a:ext>
                </a:extLst>
              </a:tr>
              <a:tr h="1701275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Design Flow of Neural Network Application for IoT Based Fall Detection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Won-Jae Yi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IEEE Conf., 2015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IoT wearable and neural network–based fall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Early method for accelerometer-based safety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fall logic and location awareness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560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9637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23A4E-9F72-64F9-158E-576333976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8490" y="883920"/>
            <a:ext cx="102870" cy="457835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FA7EB-81ED-60A1-9909-1D8A05855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280" y="355600"/>
            <a:ext cx="11856720" cy="6654800"/>
          </a:xfrm>
        </p:spPr>
        <p:txBody>
          <a:bodyPr>
            <a:normAutofit/>
          </a:bodyPr>
          <a:lstStyle/>
          <a:p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96246F4-AF94-4007-0248-4EE99D9508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903306"/>
              </p:ext>
            </p:extLst>
          </p:nvPr>
        </p:nvGraphicFramePr>
        <p:xfrm>
          <a:off x="335280" y="213360"/>
          <a:ext cx="11323319" cy="628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3935908351"/>
                    </a:ext>
                  </a:extLst>
                </a:gridCol>
                <a:gridCol w="2503714">
                  <a:extLst>
                    <a:ext uri="{9D8B030D-6E8A-4147-A177-3AD203B41FA5}">
                      <a16:colId xmlns:a16="http://schemas.microsoft.com/office/drawing/2014/main" val="2650469044"/>
                    </a:ext>
                  </a:extLst>
                </a:gridCol>
                <a:gridCol w="1617617">
                  <a:extLst>
                    <a:ext uri="{9D8B030D-6E8A-4147-A177-3AD203B41FA5}">
                      <a16:colId xmlns:a16="http://schemas.microsoft.com/office/drawing/2014/main" val="992735184"/>
                    </a:ext>
                  </a:extLst>
                </a:gridCol>
                <a:gridCol w="1617617">
                  <a:extLst>
                    <a:ext uri="{9D8B030D-6E8A-4147-A177-3AD203B41FA5}">
                      <a16:colId xmlns:a16="http://schemas.microsoft.com/office/drawing/2014/main" val="3162186847"/>
                    </a:ext>
                  </a:extLst>
                </a:gridCol>
                <a:gridCol w="1617617">
                  <a:extLst>
                    <a:ext uri="{9D8B030D-6E8A-4147-A177-3AD203B41FA5}">
                      <a16:colId xmlns:a16="http://schemas.microsoft.com/office/drawing/2014/main" val="3234628369"/>
                    </a:ext>
                  </a:extLst>
                </a:gridCol>
                <a:gridCol w="1617617">
                  <a:extLst>
                    <a:ext uri="{9D8B030D-6E8A-4147-A177-3AD203B41FA5}">
                      <a16:colId xmlns:a16="http://schemas.microsoft.com/office/drawing/2014/main" val="2028163141"/>
                    </a:ext>
                  </a:extLst>
                </a:gridCol>
                <a:gridCol w="1617617">
                  <a:extLst>
                    <a:ext uri="{9D8B030D-6E8A-4147-A177-3AD203B41FA5}">
                      <a16:colId xmlns:a16="http://schemas.microsoft.com/office/drawing/2014/main" val="1341679070"/>
                    </a:ext>
                  </a:extLst>
                </a:gridCol>
              </a:tblGrid>
              <a:tr h="739886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Venue/Journal &amp;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Inference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01483"/>
                  </a:ext>
                </a:extLst>
              </a:tr>
              <a:tr h="1849718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Energy Efficient Wearable Sensor Node for IoT-based Fall Detection Systems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s-ES" dirty="0" err="1">
                          <a:effectLst/>
                        </a:rPr>
                        <a:t>Tuan</a:t>
                      </a:r>
                      <a:r>
                        <a:rPr lang="es-ES" dirty="0">
                          <a:effectLst/>
                        </a:rPr>
                        <a:t> Nguyen Gia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IEEE NORCAS, 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Low-power sensor node with accelerometers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Reduces energy need for fall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Limited event detection, not field tested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6973247"/>
                  </a:ext>
                </a:extLst>
              </a:tr>
              <a:tr h="1849718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Real-Time Anomaly Detection in Physiological Parameters: A Multi-Squad Monitoring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R. </a:t>
                      </a:r>
                      <a:r>
                        <a:rPr lang="en-US" dirty="0" err="1">
                          <a:effectLst/>
                        </a:rPr>
                        <a:t>Jinad</a:t>
                      </a:r>
                      <a:r>
                        <a:rPr lang="en-US" dirty="0">
                          <a:effectLst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MDPI Sensors, 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Multi-soldier monitoring, wireless communication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Squad-based health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Complexity, scalability concern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148135"/>
                  </a:ext>
                </a:extLst>
              </a:tr>
              <a:tr h="1849718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Embedded Technology for Soldier Health and Safety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Priyadarshini </a:t>
                      </a:r>
                      <a:r>
                        <a:rPr lang="en-US" dirty="0" err="1">
                          <a:effectLst/>
                        </a:rPr>
                        <a:t>Jainapur</a:t>
                      </a:r>
                      <a:r>
                        <a:rPr lang="en-US" dirty="0">
                          <a:effectLst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it-IT" dirty="0">
                          <a:effectLst/>
                        </a:rPr>
                        <a:t>J. VLSI Design Signal Process.,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Embedded WSN for vitals with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Promotes low-cost, custom alerts movement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Does not cover GPS limited sensing 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5647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7983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BFF3A-6424-BDFB-3D24-1B9C0E254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3290" y="5718492"/>
            <a:ext cx="448310" cy="742315"/>
          </a:xfrm>
        </p:spPr>
        <p:txBody>
          <a:bodyPr>
            <a:normAutofit fontScale="90000"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46768-8DE5-0D89-E591-17D82E542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254000"/>
            <a:ext cx="12009120" cy="6532879"/>
          </a:xfrm>
        </p:spPr>
        <p:txBody>
          <a:bodyPr>
            <a:normAutofit/>
          </a:bodyPr>
          <a:lstStyle/>
          <a:p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93CC31-9590-4DC9-FE82-B1E8BE418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96844"/>
              </p:ext>
            </p:extLst>
          </p:nvPr>
        </p:nvGraphicFramePr>
        <p:xfrm>
          <a:off x="182880" y="254000"/>
          <a:ext cx="11527154" cy="6206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0555">
                  <a:extLst>
                    <a:ext uri="{9D8B030D-6E8A-4147-A177-3AD203B41FA5}">
                      <a16:colId xmlns:a16="http://schemas.microsoft.com/office/drawing/2014/main" val="4068698972"/>
                    </a:ext>
                  </a:extLst>
                </a:gridCol>
                <a:gridCol w="2656114">
                  <a:extLst>
                    <a:ext uri="{9D8B030D-6E8A-4147-A177-3AD203B41FA5}">
                      <a16:colId xmlns:a16="http://schemas.microsoft.com/office/drawing/2014/main" val="2219932216"/>
                    </a:ext>
                  </a:extLst>
                </a:gridCol>
                <a:gridCol w="1648097">
                  <a:extLst>
                    <a:ext uri="{9D8B030D-6E8A-4147-A177-3AD203B41FA5}">
                      <a16:colId xmlns:a16="http://schemas.microsoft.com/office/drawing/2014/main" val="1820789002"/>
                    </a:ext>
                  </a:extLst>
                </a:gridCol>
                <a:gridCol w="1648097">
                  <a:extLst>
                    <a:ext uri="{9D8B030D-6E8A-4147-A177-3AD203B41FA5}">
                      <a16:colId xmlns:a16="http://schemas.microsoft.com/office/drawing/2014/main" val="1095515684"/>
                    </a:ext>
                  </a:extLst>
                </a:gridCol>
                <a:gridCol w="1648097">
                  <a:extLst>
                    <a:ext uri="{9D8B030D-6E8A-4147-A177-3AD203B41FA5}">
                      <a16:colId xmlns:a16="http://schemas.microsoft.com/office/drawing/2014/main" val="56611979"/>
                    </a:ext>
                  </a:extLst>
                </a:gridCol>
                <a:gridCol w="1648097">
                  <a:extLst>
                    <a:ext uri="{9D8B030D-6E8A-4147-A177-3AD203B41FA5}">
                      <a16:colId xmlns:a16="http://schemas.microsoft.com/office/drawing/2014/main" val="687632806"/>
                    </a:ext>
                  </a:extLst>
                </a:gridCol>
                <a:gridCol w="1648097">
                  <a:extLst>
                    <a:ext uri="{9D8B030D-6E8A-4147-A177-3AD203B41FA5}">
                      <a16:colId xmlns:a16="http://schemas.microsoft.com/office/drawing/2014/main" val="3494400066"/>
                    </a:ext>
                  </a:extLst>
                </a:gridCol>
              </a:tblGrid>
              <a:tr h="798870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Venue/Journal &amp;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Inference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Limitations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7199306"/>
                  </a:ext>
                </a:extLst>
              </a:tr>
              <a:tr h="1802646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IoT Based Soldier Health Monitoring and Position Tracking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S. Gaikwad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IJRASET,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IoT sensors plus GPS for health and 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Accurate live location and vitals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Focused on health/location 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0101605"/>
                  </a:ext>
                </a:extLst>
              </a:tr>
              <a:tr h="1802646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Health Monitoring for Military Using Wearable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S. Rajarajan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IJERT, 2018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Wearable system for continuous vitals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Demonstrates compact sensor design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No advanced alerts/environment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348922"/>
                  </a:ext>
                </a:extLst>
              </a:tr>
              <a:tr h="1802646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Health Monitoring and Soldier Tracking System Using GSM-GPS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da-DK" dirty="0">
                          <a:effectLst/>
                        </a:rPr>
                        <a:t>S. A. Goud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IJEMR,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GSM, GPS-based health and movement tracker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Simplifies command center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Relies on </a:t>
                      </a:r>
                      <a:r>
                        <a:rPr lang="en-US" dirty="0" err="1"/>
                        <a:t>GSM,lacks</a:t>
                      </a:r>
                      <a:r>
                        <a:rPr lang="en-US" dirty="0"/>
                        <a:t> multi-modal sensors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037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7138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C56DD-D676-7B15-2B6A-EE7F12086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147BC-C094-1043-01CF-839DB83B2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301754-8C0A-1BDF-189B-BC36A03C4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653513"/>
              </p:ext>
            </p:extLst>
          </p:nvPr>
        </p:nvGraphicFramePr>
        <p:xfrm>
          <a:off x="563880" y="228600"/>
          <a:ext cx="11033757" cy="6172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60">
                  <a:extLst>
                    <a:ext uri="{9D8B030D-6E8A-4147-A177-3AD203B41FA5}">
                      <a16:colId xmlns:a16="http://schemas.microsoft.com/office/drawing/2014/main" val="1652005100"/>
                    </a:ext>
                  </a:extLst>
                </a:gridCol>
                <a:gridCol w="2405742">
                  <a:extLst>
                    <a:ext uri="{9D8B030D-6E8A-4147-A177-3AD203B41FA5}">
                      <a16:colId xmlns:a16="http://schemas.microsoft.com/office/drawing/2014/main" val="2163178395"/>
                    </a:ext>
                  </a:extLst>
                </a:gridCol>
                <a:gridCol w="1576251">
                  <a:extLst>
                    <a:ext uri="{9D8B030D-6E8A-4147-A177-3AD203B41FA5}">
                      <a16:colId xmlns:a16="http://schemas.microsoft.com/office/drawing/2014/main" val="159617333"/>
                    </a:ext>
                  </a:extLst>
                </a:gridCol>
                <a:gridCol w="1576251">
                  <a:extLst>
                    <a:ext uri="{9D8B030D-6E8A-4147-A177-3AD203B41FA5}">
                      <a16:colId xmlns:a16="http://schemas.microsoft.com/office/drawing/2014/main" val="1608908393"/>
                    </a:ext>
                  </a:extLst>
                </a:gridCol>
                <a:gridCol w="1576251">
                  <a:extLst>
                    <a:ext uri="{9D8B030D-6E8A-4147-A177-3AD203B41FA5}">
                      <a16:colId xmlns:a16="http://schemas.microsoft.com/office/drawing/2014/main" val="3972654424"/>
                    </a:ext>
                  </a:extLst>
                </a:gridCol>
                <a:gridCol w="1576251">
                  <a:extLst>
                    <a:ext uri="{9D8B030D-6E8A-4147-A177-3AD203B41FA5}">
                      <a16:colId xmlns:a16="http://schemas.microsoft.com/office/drawing/2014/main" val="4100265165"/>
                    </a:ext>
                  </a:extLst>
                </a:gridCol>
                <a:gridCol w="1576251">
                  <a:extLst>
                    <a:ext uri="{9D8B030D-6E8A-4147-A177-3AD203B41FA5}">
                      <a16:colId xmlns:a16="http://schemas.microsoft.com/office/drawing/2014/main" val="621847918"/>
                    </a:ext>
                  </a:extLst>
                </a:gridCol>
              </a:tblGrid>
              <a:tr h="748145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Authors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Venue/Journal &amp;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Methodology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Inference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0" dirty="0">
                          <a:effectLst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3687139"/>
                  </a:ext>
                </a:extLst>
              </a:tr>
              <a:tr h="1808018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Internet of Things-Based Wireless Sensor Network for Soldier Safety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C. </a:t>
                      </a:r>
                      <a:r>
                        <a:rPr lang="en-US" dirty="0" err="1">
                          <a:effectLst/>
                        </a:rPr>
                        <a:t>Gunavanth</a:t>
                      </a:r>
                      <a:r>
                        <a:rPr lang="en-US" dirty="0">
                          <a:effectLst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IJSRSET,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Multi-sensor, WSN for health and 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Favorable for team data gathering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No proximity warning or local alert feedback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0330486"/>
                  </a:ext>
                </a:extLst>
              </a:tr>
              <a:tr h="1808018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Health Monitoring and Soldier Tracking Using Gas Sensor and GPS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da-DK" dirty="0">
                          <a:effectLst/>
                        </a:rPr>
                        <a:t>Z.A. Kori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IERJ,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Adds gas sensor to health/location tracker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Initiates environmental hazard alerts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Sensor calibration/sensitivity issues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3541110"/>
                  </a:ext>
                </a:extLst>
              </a:tr>
              <a:tr h="1808018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Soldier Health and Position Tracking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fr-FR" dirty="0">
                          <a:effectLst/>
                        </a:rPr>
                        <a:t>Y.S. Goud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AIP Conf. Proc.,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Integrates health, location, and gas sensors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Unified multi-sensor solution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Power management advanced AI features lacking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366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957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92B41-0660-2755-10F7-4FBB76E1A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-1612581"/>
            <a:ext cx="7367270" cy="270986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0AC1A05-A67C-1943-AF7B-D1C615D2D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78561" y="1654260"/>
            <a:ext cx="99872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soldier safety and health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harsh terrains remains a major challenge for defense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monitoring systems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reactive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they respond only after an emergency occurs.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data reporting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GSM-only communication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limits reliability in low-network regions.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devices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 not integrate multiple sensors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such as temperature, pulse, gas, accelerometer, and GPS into one 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proximity awareness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between soldiers causes delays in rescue and coordination.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Absence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hazard alerts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(gas exposure, fall detection, abnormal vitals) leads to delayed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0865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91BC0-E45A-2279-86E3-AB4DA58D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10" y="-1632901"/>
            <a:ext cx="8992870" cy="2791142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DIAGRAM: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286B6-3961-F1C1-B941-A57421322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B5FE6D7-8761-5E76-887E-84BA0A2DB5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614" y="1229938"/>
            <a:ext cx="10796072" cy="545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20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4A11E-FFB6-6C9A-9500-1308E7B7C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90" y="152400"/>
            <a:ext cx="7255510" cy="90487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C4FC8-8914-6B38-6CB1-58529E1EF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4F95A377-E4DF-46BE-0D4F-B064B58BAF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C35CF9-C920-F79A-4FBA-CD6E353C8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1251372"/>
            <a:ext cx="10845800" cy="536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43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8F202-3A58-D455-8807-B3117239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70" y="-1704022"/>
            <a:ext cx="3262630" cy="2852737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86F12-88F5-A475-930C-C02E4D20B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4159" y="1788160"/>
            <a:ext cx="9265921" cy="50698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tx1"/>
                </a:solidFill>
              </a:rPr>
              <a:t>1. Health Monitoring Module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Uses </a:t>
            </a:r>
            <a:r>
              <a:rPr lang="en-US" sz="1800" b="1" dirty="0">
                <a:solidFill>
                  <a:schemeClr val="tx1"/>
                </a:solidFill>
              </a:rPr>
              <a:t>LM35</a:t>
            </a:r>
            <a:r>
              <a:rPr lang="en-US" sz="1800" dirty="0">
                <a:solidFill>
                  <a:schemeClr val="tx1"/>
                </a:solidFill>
              </a:rPr>
              <a:t> for body temperature and </a:t>
            </a:r>
            <a:r>
              <a:rPr lang="en-US" sz="1800" b="1" dirty="0">
                <a:solidFill>
                  <a:schemeClr val="tx1"/>
                </a:solidFill>
              </a:rPr>
              <a:t>Pulse Sensor</a:t>
            </a:r>
            <a:r>
              <a:rPr lang="en-US" sz="1800" dirty="0">
                <a:solidFill>
                  <a:schemeClr val="tx1"/>
                </a:solidFill>
              </a:rPr>
              <a:t> for heart rate.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Continuously tracks vital signs and sends data to ESP32.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Abnormal readings trigger instant alerts.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tx1"/>
                </a:solidFill>
              </a:rPr>
              <a:t>2. Environmental Monitoring Module</a:t>
            </a: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tx1"/>
                </a:solidFill>
              </a:rPr>
              <a:t>MQ-135 gas sensor</a:t>
            </a:r>
            <a:r>
              <a:rPr lang="en-US" sz="1800" dirty="0">
                <a:solidFill>
                  <a:schemeClr val="tx1"/>
                </a:solidFill>
              </a:rPr>
              <a:t> detects harmful gases (CO₂, NH₃, etc.).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Provides early warning for toxic gas exposure in the field.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tx1"/>
                </a:solidFill>
              </a:rPr>
              <a:t>Activates buzzer and vibration alerts when gas exceeds threshold.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918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19AC07-A351-0AE4-08D7-C88A1342EE01}"/>
              </a:ext>
            </a:extLst>
          </p:cNvPr>
          <p:cNvSpPr txBox="1"/>
          <p:nvPr/>
        </p:nvSpPr>
        <p:spPr>
          <a:xfrm>
            <a:off x="1391920" y="920621"/>
            <a:ext cx="1038352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</a:rPr>
              <a:t>3. Motion and Fall Detection Module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ADXL345 accelerometer</a:t>
            </a:r>
            <a:r>
              <a:rPr lang="en-US" sz="2000" dirty="0">
                <a:solidFill>
                  <a:schemeClr val="tx1"/>
                </a:solidFill>
              </a:rPr>
              <a:t> detects movement, orientation, and falls.</a:t>
            </a:r>
          </a:p>
          <a:p>
            <a:r>
              <a:rPr lang="en-US" sz="2000" dirty="0">
                <a:solidFill>
                  <a:schemeClr val="tx1"/>
                </a:solidFill>
              </a:rPr>
              <a:t>Helps identify if a soldier has fallen or become inactive.</a:t>
            </a:r>
          </a:p>
          <a:p>
            <a:r>
              <a:rPr lang="en-US" sz="2000" dirty="0">
                <a:solidFill>
                  <a:schemeClr val="tx1"/>
                </a:solidFill>
              </a:rPr>
              <a:t>Sends an automatic alert to the command center</a:t>
            </a:r>
          </a:p>
          <a:p>
            <a:endParaRPr lang="en-IN" sz="2000" b="1" dirty="0"/>
          </a:p>
          <a:p>
            <a:pPr>
              <a:buNone/>
            </a:pPr>
            <a:r>
              <a:rPr lang="en-IN" sz="2000" b="1" dirty="0"/>
              <a:t>4. Location &amp; Communication Module</a:t>
            </a:r>
          </a:p>
          <a:p>
            <a:r>
              <a:rPr lang="en-IN" sz="2000" b="1" dirty="0"/>
              <a:t>Neo-6M GPS</a:t>
            </a:r>
            <a:r>
              <a:rPr lang="en-IN" sz="2000" dirty="0"/>
              <a:t> provides real-time location coordinates.</a:t>
            </a:r>
          </a:p>
          <a:p>
            <a:r>
              <a:rPr lang="en-IN" sz="2000" b="1" dirty="0"/>
              <a:t>ESP32</a:t>
            </a:r>
            <a:r>
              <a:rPr lang="en-IN" sz="2000" dirty="0"/>
              <a:t> transmits data via </a:t>
            </a:r>
            <a:r>
              <a:rPr lang="en-IN" sz="2000" b="1" dirty="0"/>
              <a:t>GSM/Wi-Fi</a:t>
            </a:r>
            <a:r>
              <a:rPr lang="en-IN" sz="2000" dirty="0"/>
              <a:t> to the control unit or cloud.</a:t>
            </a:r>
          </a:p>
          <a:p>
            <a:r>
              <a:rPr lang="en-IN" sz="2000" dirty="0"/>
              <a:t>Enables tracking and emergency location sharing.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  <a:p>
            <a:pPr>
              <a:buNone/>
            </a:pPr>
            <a:r>
              <a:rPr lang="en-IN" sz="2000" b="1" dirty="0"/>
              <a:t>5. Alert &amp; Display Module</a:t>
            </a:r>
          </a:p>
          <a:p>
            <a:r>
              <a:rPr lang="en-IN" sz="2000" b="1" dirty="0"/>
              <a:t>OLED Display</a:t>
            </a:r>
            <a:r>
              <a:rPr lang="en-IN" sz="2000" dirty="0"/>
              <a:t> shows soldier’s vitals and GPS coordinates.</a:t>
            </a:r>
          </a:p>
          <a:p>
            <a:r>
              <a:rPr lang="en-IN" sz="2000" b="1" dirty="0"/>
              <a:t>Buzzer &amp; vibration motor</a:t>
            </a:r>
            <a:r>
              <a:rPr lang="en-IN" sz="2000" dirty="0"/>
              <a:t> give instant on-field alerts.</a:t>
            </a:r>
          </a:p>
          <a:p>
            <a:r>
              <a:rPr lang="en-IN" sz="2000" b="1" dirty="0"/>
              <a:t>Command </a:t>
            </a:r>
            <a:r>
              <a:rPr lang="en-IN" sz="2000" b="1" dirty="0" err="1"/>
              <a:t>center</a:t>
            </a:r>
            <a:r>
              <a:rPr lang="en-IN" sz="2000" b="1" dirty="0"/>
              <a:t> dashboard</a:t>
            </a:r>
            <a:r>
              <a:rPr lang="en-IN" sz="2000" dirty="0"/>
              <a:t> receives status updates and warnings.</a:t>
            </a:r>
          </a:p>
        </p:txBody>
      </p:sp>
    </p:spTree>
    <p:extLst>
      <p:ext uri="{BB962C8B-B14F-4D97-AF65-F5344CB8AC3E}">
        <p14:creationId xmlns:p14="http://schemas.microsoft.com/office/powerpoint/2010/main" val="121241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FA92A-77F3-9481-D478-B4240F5B2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" y="-863600"/>
            <a:ext cx="9389110" cy="199199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ALGORITHM/METHODOLOGY: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ED539-0394-9645-4582-3FAB657EE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1360" y="1148080"/>
            <a:ext cx="11470640" cy="5709920"/>
          </a:xfrm>
        </p:spPr>
        <p:txBody>
          <a:bodyPr>
            <a:normAutofit/>
          </a:bodyPr>
          <a:lstStyle/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Sensor Initialization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initializes temperature, pulse, gas, accelerometer, and GPS sensors.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Acquisition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 collect continuous data from the soldier’s body and environment.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Processing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 reads sensor values and compares them with preset thresholds.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Condition Evaluation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temperature, pulse, or gas values exceed safe limits → trigger alert condition.</a:t>
            </a:r>
          </a:p>
          <a:p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accelerometer detects sudden fall → mark as emergency.</a:t>
            </a:r>
          </a:p>
          <a:p>
            <a:endParaRPr lang="en-IN" sz="28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EEA5F9-2A19-9441-37D7-292718587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" y="4269128"/>
            <a:ext cx="10053175" cy="23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593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EB82E-B376-29C2-DCAC-0C64A96E6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274320"/>
            <a:ext cx="9467850" cy="78295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OVERVIEW: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E0C5E-EB6B-05A9-924D-5D20988AF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188720"/>
            <a:ext cx="10981690" cy="527303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b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verify the functionality, reliability, and accuracy of the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soldier monitoring system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under various conditions.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Testing Performed: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1.Unit Testing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Each sensor and module tested individually.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2.Integration Testing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Verified data flow between sensors, ESP32, and communication modules.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3.Functional Testing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Ensured correct alerts and responses for specific conditions.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4.Communication Testing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Checked GSM/Wi-Fi message transmission and GPS accuracy.</a:t>
            </a: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5.Power &amp; Reliability Testing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Tested system operation under continuous use.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261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353EB-335D-3855-5AA4-E73059254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0"/>
            <a:ext cx="10515600" cy="129095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PROCEDURE: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E87AC64-C43C-7C23-B079-F03C0D763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442433"/>
              </p:ext>
            </p:extLst>
          </p:nvPr>
        </p:nvGraphicFramePr>
        <p:xfrm>
          <a:off x="609600" y="1422400"/>
          <a:ext cx="11348720" cy="4734558"/>
        </p:xfrm>
        <a:graphic>
          <a:graphicData uri="http://schemas.openxmlformats.org/drawingml/2006/table">
            <a:tbl>
              <a:tblPr/>
              <a:tblGrid>
                <a:gridCol w="2837180">
                  <a:extLst>
                    <a:ext uri="{9D8B030D-6E8A-4147-A177-3AD203B41FA5}">
                      <a16:colId xmlns:a16="http://schemas.microsoft.com/office/drawing/2014/main" val="2693494854"/>
                    </a:ext>
                  </a:extLst>
                </a:gridCol>
                <a:gridCol w="2837180">
                  <a:extLst>
                    <a:ext uri="{9D8B030D-6E8A-4147-A177-3AD203B41FA5}">
                      <a16:colId xmlns:a16="http://schemas.microsoft.com/office/drawing/2014/main" val="1169322544"/>
                    </a:ext>
                  </a:extLst>
                </a:gridCol>
                <a:gridCol w="2837180">
                  <a:extLst>
                    <a:ext uri="{9D8B030D-6E8A-4147-A177-3AD203B41FA5}">
                      <a16:colId xmlns:a16="http://schemas.microsoft.com/office/drawing/2014/main" val="2893218738"/>
                    </a:ext>
                  </a:extLst>
                </a:gridCol>
                <a:gridCol w="2837180">
                  <a:extLst>
                    <a:ext uri="{9D8B030D-6E8A-4147-A177-3AD203B41FA5}">
                      <a16:colId xmlns:a16="http://schemas.microsoft.com/office/drawing/2014/main" val="1386412441"/>
                    </a:ext>
                  </a:extLst>
                </a:gridCol>
              </a:tblGrid>
              <a:tr h="789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Test Case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Input Condition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Expected Output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Result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446672"/>
                  </a:ext>
                </a:extLst>
              </a:tr>
              <a:tr h="789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Body Temp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 &gt; 38°C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 via buzzer/SMS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513101"/>
                  </a:ext>
                </a:extLst>
              </a:tr>
              <a:tr h="789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Pulse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Pulse &gt; 120 bpm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 triggered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816459"/>
                  </a:ext>
                </a:extLst>
              </a:tr>
              <a:tr h="789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Gas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Gas level &gt; threshold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Alarm &amp; message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468588"/>
                  </a:ext>
                </a:extLst>
              </a:tr>
              <a:tr h="789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Fall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Sudden motion detected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Emergency alert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0217002"/>
                  </a:ext>
                </a:extLst>
              </a:tr>
              <a:tr h="7890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Normal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 values within 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alert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1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899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E0F0B-33B6-8537-EAA4-06E869A85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650" y="0"/>
            <a:ext cx="5609590" cy="101663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RESULT: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49BCA2-DBF0-FDFA-7DC7-90E9150894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092960" y="1370166"/>
            <a:ext cx="921512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sensors responded accurately under test scenarios.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were transmitted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within 2–4 seconds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delay.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OLED display and vibration motor worked consistently.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GPS location precision: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±5 meters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Power consumption optimized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&gt;8 hours continuous use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8635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8C18E-BC04-5F4B-82DB-9EE97C041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70" y="171927"/>
            <a:ext cx="4014470" cy="772795"/>
          </a:xfrm>
        </p:spPr>
        <p:txBody>
          <a:bodyPr>
            <a:normAutofit fontScale="90000"/>
          </a:bodyPr>
          <a:lstStyle/>
          <a:p>
            <a:r>
              <a:rPr lang="en-US" dirty="0"/>
              <a:t>TEST CASE: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3110E56-37B2-FCF7-2B42-CE1390DD7F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116551"/>
              </p:ext>
            </p:extLst>
          </p:nvPr>
        </p:nvGraphicFramePr>
        <p:xfrm>
          <a:off x="1031240" y="1325880"/>
          <a:ext cx="10515600" cy="420624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70900324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21793049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44756308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77715994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642114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2629922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Test ID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Parameter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Condition Tested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Expected Output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Actual Output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Status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894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Temperature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&gt;38°C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 message + buzzer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 message triggered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09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Pulse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&gt;120 bpm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 to control room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 triggered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197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Gas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CO₂ / NH₃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Alarm, SMS 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Successful alert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30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Fall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Sudden tilt &gt; threshold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Emergency alert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Alert + GPS sent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75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GPS 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Movement simulation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Location 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Accurate coordinates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✅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423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TC6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GSM/Wi-Fi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transmission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data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✅ 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6561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902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392C1-9314-E5D0-F949-AE8F234FC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330" y="91440"/>
            <a:ext cx="6015990" cy="99631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TEST: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53A23-0B80-828A-F236-5BB4B5660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88490" y="1412241"/>
            <a:ext cx="9866630" cy="544575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Accuracy: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Heart rate &amp; temperature sensors showed </a:t>
            </a:r>
            <a:r>
              <a:rPr lang="en-US" b="1" dirty="0">
                <a:solidFill>
                  <a:schemeClr val="tx1"/>
                </a:solidFill>
              </a:rPr>
              <a:t>±2% deviation</a:t>
            </a:r>
            <a:r>
              <a:rPr lang="en-US" dirty="0">
                <a:solidFill>
                  <a:schemeClr val="tx1"/>
                </a:solidFill>
              </a:rPr>
              <a:t> compared to medical devices.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GPS readings were accurate within </a:t>
            </a:r>
            <a:r>
              <a:rPr lang="en-US" b="1" dirty="0">
                <a:solidFill>
                  <a:schemeClr val="tx1"/>
                </a:solidFill>
              </a:rPr>
              <a:t>5–7 meters</a:t>
            </a:r>
            <a:r>
              <a:rPr lang="en-US" dirty="0">
                <a:solidFill>
                  <a:schemeClr val="tx1"/>
                </a:solidFill>
              </a:rPr>
              <a:t> range.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Response Time: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Alerts reached control center within </a:t>
            </a:r>
            <a:r>
              <a:rPr lang="en-US" b="1" dirty="0">
                <a:solidFill>
                  <a:schemeClr val="tx1"/>
                </a:solidFill>
              </a:rPr>
              <a:t>2–4 seconds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Reliability: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Continuous operation stable for </a:t>
            </a:r>
            <a:r>
              <a:rPr lang="en-US" b="1" dirty="0">
                <a:solidFill>
                  <a:schemeClr val="tx1"/>
                </a:solidFill>
              </a:rPr>
              <a:t>8–10 hours</a:t>
            </a:r>
            <a:r>
              <a:rPr lang="en-US" dirty="0">
                <a:solidFill>
                  <a:schemeClr val="tx1"/>
                </a:solidFill>
              </a:rPr>
              <a:t> on battery.</a:t>
            </a:r>
          </a:p>
          <a:p>
            <a:pPr lvl="1"/>
            <a:endParaRPr lang="en-US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Overall Validation:</a:t>
            </a:r>
            <a:endParaRPr lang="en-US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System validated for </a:t>
            </a:r>
            <a:r>
              <a:rPr lang="en-US" b="1" dirty="0">
                <a:solidFill>
                  <a:schemeClr val="tx1"/>
                </a:solidFill>
              </a:rPr>
              <a:t>real-time health, environment, and location monitoring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08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881C6-FE95-F031-452F-D399A730F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490" y="0"/>
            <a:ext cx="8291830" cy="1057275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r>
              <a:rPr lang="en-US" dirty="0"/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2C9F5B-AD19-CDA3-E41D-E519648BE5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59840" y="1365847"/>
            <a:ext cx="1051433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was tested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reliability, and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 real-time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Temperature (±0.2 °C), Heart Rate (±2%), GPS (±5 m).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Time: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Alerts reached the command center within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2–4 seconds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Reliability: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98% successful data transmission via GSM/Wi-Fi.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Efficiency: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8–10 hours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continuously on a 12 V battery.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Result: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fast, accurate, and stable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soldier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1087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5397F-3E64-C9FF-1963-17A0384AB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182880"/>
            <a:ext cx="4989830" cy="83375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SCREENSHOTS: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90058B-EB06-8578-3E8B-FA3F386529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198" r="8199"/>
          <a:stretch>
            <a:fillRect/>
          </a:stretch>
        </p:blipFill>
        <p:spPr bwMode="auto">
          <a:xfrm>
            <a:off x="1113704" y="1270636"/>
            <a:ext cx="4446270" cy="23774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FDBBE2-2908-5416-C42F-976378D0F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313" y="772161"/>
            <a:ext cx="3034274" cy="2779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E194E8-C316-DBCE-7ACE-525887F375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313" y="3811780"/>
            <a:ext cx="3034274" cy="304622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6904946-0095-AC89-59AB-9521ADE43F8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30" t="-212" r="-6518"/>
          <a:stretch>
            <a:fillRect/>
          </a:stretch>
        </p:blipFill>
        <p:spPr bwMode="auto">
          <a:xfrm>
            <a:off x="1600413" y="3935470"/>
            <a:ext cx="4156710" cy="27396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45096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8C62D-936B-3E9A-E0DE-E4A27F30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970" y="101600"/>
            <a:ext cx="5264150" cy="986155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6B3303-5FEC-844C-98F5-CFD95A4B53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2030" y="1319521"/>
            <a:ext cx="108204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successfully developed an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IoT-based Soldier Monitoring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health, location, and hazard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multi-sensor technology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ensures continuous monitoring of temperature, pulse, gas levels, and motion.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ESP32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efficiently processes data and sends alerts through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GSM/Wi-Fi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timely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enhances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soldier safety, mission coordination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 management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project goals of being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portable, cost-effective, reliable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field-deployable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3520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F9233-5479-1C38-45BD-29AFDD3D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" y="203200"/>
            <a:ext cx="5182870" cy="94551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US" sz="4000" dirty="0"/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sz="4000" dirty="0"/>
              <a:t>:</a:t>
            </a:r>
            <a:endParaRPr lang="en-IN" sz="40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7D74441-7288-B3F6-D03E-14BE5686D6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83920" y="1334919"/>
            <a:ext cx="1042416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AI/ML algorithms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predictive health analysis and anomaly detection.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cloud dashboard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real-time global monitoring and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two-way communication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soldiers and command centers.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solar or kinetic charging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extended battery life.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Miniaturize the hardware into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wearable smart jacket or helmet module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encryption and data security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military-grade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7611312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61D0A-599A-B777-DDA1-7B23876E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130" y="325120"/>
            <a:ext cx="4329430" cy="721995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943D5-EA79-06E4-4C6B-344323F01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010" y="1815783"/>
            <a:ext cx="10515600" cy="4849177"/>
          </a:xfrm>
        </p:spPr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C651D33D-3BA5-A25E-0C85-EF0E5DC36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370" y="3663215"/>
            <a:ext cx="921512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91BA3E-58CA-199A-DE99-DD8DCD3FD1D9}"/>
              </a:ext>
            </a:extLst>
          </p:cNvPr>
          <p:cNvSpPr txBox="1">
            <a:spLocks/>
          </p:cNvSpPr>
          <p:nvPr/>
        </p:nvSpPr>
        <p:spPr>
          <a:xfrm>
            <a:off x="907573" y="1139470"/>
            <a:ext cx="10018713" cy="53934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Bhargav Jethwa et al., "Realtime Wireless Embedded Electronics for Soldier Security," IEEE International Conference on Electronics, Computing and Communication Technologies, 2020. </a:t>
            </a: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Kavitha N., </a:t>
            </a:r>
            <a:r>
              <a:rPr kumimoji="0" lang="en-IN" sz="26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Madhumathy</a:t>
            </a: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P., "A Real-Time Autonomous Soldier Health Monitoring and Reporting System Using COTS Available Entities," IEEE International Conference on Advances in Computing, Communications and Informatics (ICACCI), 2015. </a:t>
            </a: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Niket Patil et al., "Health Monitoring and Tracking System for Soldiers Using IoT," IEEE International Conference on Computing, Communication, and Automation (ICCCA), 2020. </a:t>
            </a: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Yashash</a:t>
            </a: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Jain et al., "Novel Wearable Device for Health Monitoring and Tracking of Soldiers Based on LoRa Module," IEEE Conference on Information and Communication Technology (CICT), 2020. </a:t>
            </a: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G. N. R. Rao, M. V. Sai Bhargavi, "Real- time Soldier Health Monitoring System Using IoT and Blynk Cloud," IEEE International Conference on Internet of Things and Applications (</a:t>
            </a:r>
            <a:r>
              <a:rPr kumimoji="0" lang="en-IN" sz="26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ICIoTA</a:t>
            </a: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), 2024. </a:t>
            </a: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Won-Jae Yi et al., "Design Flow of Neural Network Application for IoT Based Fall Detection System," IEEE International Conference, 2015. </a:t>
            </a: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Tuan Nguyen Gia et al., "Energy Efficient Wearable Sensor Node for IoT-based Fall Detection Systems," IEEE-affiliated NORCAS workshop, 2018. </a:t>
            </a:r>
          </a:p>
          <a:p>
            <a:pPr marL="285750" marR="0" lvl="0" indent="-28575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R. </a:t>
            </a:r>
            <a:r>
              <a:rPr kumimoji="0" lang="en-IN" sz="26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Jinad</a:t>
            </a: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K. Gupta, D. Oladimeji, A. Rasheed, and C. Varol, "Real-Time Anomaly Detection in Physiological Parameters: A Multi-Squad Monitoring and Communication Architecture," </a:t>
            </a:r>
            <a:r>
              <a:rPr kumimoji="0" lang="en-IN" sz="2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MDPI Sensors</a:t>
            </a: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2025.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Priyadarshini </a:t>
            </a:r>
            <a:r>
              <a:rPr kumimoji="0" lang="en-IN" sz="26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Jainapur</a:t>
            </a: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Santhosh Naidu, and Srusti G. S., "Embedded Technology for Soldier Health and Safety Monitoring," </a:t>
            </a:r>
            <a:r>
              <a:rPr kumimoji="0" lang="en-IN" sz="2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Journal of VLSI Design and Signal. MAT Journals)</a:t>
            </a:r>
            <a:r>
              <a:rPr kumimoji="0" lang="en-IN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2024. 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30ACEC">
                  <a:lumMod val="75000"/>
                </a:srgbClr>
              </a:buClr>
              <a:buSzPct val="145000"/>
              <a:buFont typeface="Wingdings" panose="05000000000000000000" pitchFamily="2" charset="2"/>
              <a:buChar char="Ø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97384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4ED5-C4AC-C7ED-92E7-516C51CE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972E5-0F58-6224-7BA5-446A40105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7DF78B-D8B3-194B-0EF5-65BCCFE430BE}"/>
              </a:ext>
            </a:extLst>
          </p:cNvPr>
          <p:cNvSpPr txBox="1"/>
          <p:nvPr/>
        </p:nvSpPr>
        <p:spPr>
          <a:xfrm>
            <a:off x="1252728" y="457200"/>
            <a:ext cx="10515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endParaRPr lang="en-IN" dirty="0">
              <a:solidFill>
                <a:prstClr val="black"/>
              </a:solidFill>
              <a:latin typeface="Corbel" panose="020B0503020204020204"/>
            </a:endParaRPr>
          </a:p>
          <a:p>
            <a:pPr marL="285750" indent="-285750" defTabSz="457200" fontAlgn="base"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Gaikwad, P. Tele, A. Sawant, S. </a:t>
            </a:r>
            <a:r>
              <a:rPr lang="en-I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Nichit</a:t>
            </a: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 Sambare, and V. Rathod, "IoT Based Soldier Health Monitoring and Position Tracking System," </a:t>
            </a:r>
            <a:r>
              <a:rPr lang="en-IN" sz="16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for Research in Applied Science &amp; Engineering Technology (IJRASET)</a:t>
            </a: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defTabSz="457200" fontAlgn="base"/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defTabSz="457200" fontAlgn="base"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Rajarajan, D. Abirami, P. Gayathri, and K. Yogeshwari, "Health Monitoring for Military Using Wearable Sensors," </a:t>
            </a:r>
            <a:r>
              <a:rPr lang="en-IN" sz="16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&amp; Technology (IJERT)</a:t>
            </a: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2018. </a:t>
            </a:r>
          </a:p>
          <a:p>
            <a:pPr defTabSz="457200" fontAlgn="base"/>
            <a:endParaRPr lang="en-I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 fontAlgn="base"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A. Goud, Y. </a:t>
            </a:r>
            <a:r>
              <a:rPr lang="en-I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Sreenivasula</a:t>
            </a: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B. Malleswari, Priyanka, and P. Pavithra, "Health Monitoring and Soldier Tracking System Using GSM-GPS," </a:t>
            </a:r>
            <a:r>
              <a:rPr lang="en-IN" sz="16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and Management Research (IJEMR)</a:t>
            </a: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2022. </a:t>
            </a:r>
          </a:p>
          <a:p>
            <a:pPr defTabSz="457200" fontAlgn="base"/>
            <a:endParaRPr lang="en-I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 fontAlgn="base"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I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Gunavanth</a:t>
            </a: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IN" sz="16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Saidulu</a:t>
            </a: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G. Ravi Kumar, "Internet of Things-Based Wireless Sensor Network for Soldier Safety," </a:t>
            </a:r>
            <a:r>
              <a:rPr lang="en-IN" sz="16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Scientific Research in Science, Engineering and Technology (IJSRSET)</a:t>
            </a: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2022. </a:t>
            </a:r>
          </a:p>
          <a:p>
            <a:pPr defTabSz="457200" fontAlgn="base"/>
            <a:endParaRPr lang="en-I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 fontAlgn="base"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Kori, R. Choudhary, R. Thakre, and P. Patel, "Health Monitoring and Soldier Tracking System Using Gas Sensor and GPS," </a:t>
            </a:r>
            <a:r>
              <a:rPr lang="en-IN" sz="16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Education and Research Journal (IERJ)</a:t>
            </a: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2021. </a:t>
            </a:r>
          </a:p>
          <a:p>
            <a:pPr defTabSz="457200" fontAlgn="base"/>
            <a:endParaRPr lang="en-IN" sz="16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defTabSz="457200" fontAlgn="base">
              <a:buFont typeface="Wingdings" panose="05000000000000000000" pitchFamily="2" charset="2"/>
              <a:buChar char="ü"/>
            </a:pP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Y. S. Goud, B. Malleswari, P. Priyanka, and Pavithra, "Soldier Health and Position Tracking System," </a:t>
            </a:r>
            <a:r>
              <a:rPr lang="en-IN" sz="16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AIP Conference Proceedings</a:t>
            </a:r>
            <a:r>
              <a:rPr lang="en-IN" sz="16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 marL="285750" indent="-285750" defTabSz="457200">
              <a:buFont typeface="Wingdings" panose="05000000000000000000" pitchFamily="2" charset="2"/>
              <a:buChar char="Ø"/>
            </a:pPr>
            <a:endParaRPr lang="en-IN" dirty="0">
              <a:solidFill>
                <a:prstClr val="black"/>
              </a:solidFill>
              <a:latin typeface="Corbel" panose="020B0503020204020204"/>
            </a:endParaRPr>
          </a:p>
        </p:txBody>
      </p:sp>
    </p:spTree>
    <p:extLst>
      <p:ext uri="{BB962C8B-B14F-4D97-AF65-F5344CB8AC3E}">
        <p14:creationId xmlns:p14="http://schemas.microsoft.com/office/powerpoint/2010/main" val="719202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2394</Words>
  <Application>Microsoft Office PowerPoint</Application>
  <PresentationFormat>Widescreen</PresentationFormat>
  <Paragraphs>405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Calibri Light</vt:lpstr>
      <vt:lpstr>Corbel</vt:lpstr>
      <vt:lpstr>Times New Roman</vt:lpstr>
      <vt:lpstr>Wingdings</vt:lpstr>
      <vt:lpstr>Office Theme</vt:lpstr>
      <vt:lpstr>REAL-TIME SOLDIER VITAL SIGNS,GPS TRACKING AND GAS HAZARD ALERT DEVICE </vt:lpstr>
      <vt:lpstr>AGENDA:</vt:lpstr>
      <vt:lpstr>INTRODUCTION:</vt:lpstr>
      <vt:lpstr>LITERATURE SURVEY:</vt:lpstr>
      <vt:lpstr>.</vt:lpstr>
      <vt:lpstr>.</vt:lpstr>
      <vt:lpstr>.</vt:lpstr>
      <vt:lpstr>PowerPoint Presentation</vt:lpstr>
      <vt:lpstr>PROBLEM STATEMENT:</vt:lpstr>
      <vt:lpstr>ARCHITECTURE DIAGRAM:</vt:lpstr>
      <vt:lpstr>USE CASE DIAGRAM:</vt:lpstr>
      <vt:lpstr>MODULE:</vt:lpstr>
      <vt:lpstr>PowerPoint Presentation</vt:lpstr>
      <vt:lpstr>ALGORITHM/METHODOLOGY:</vt:lpstr>
      <vt:lpstr>TESTING OVERVIEW:</vt:lpstr>
      <vt:lpstr>TESTING PROCEDURE:</vt:lpstr>
      <vt:lpstr>TESTING RESULT:</vt:lpstr>
      <vt:lpstr>TEST CASE:</vt:lpstr>
      <vt:lpstr>VALIDATION TEST:</vt:lpstr>
      <vt:lpstr>PERFORMANCE ANALYSIS:</vt:lpstr>
      <vt:lpstr>SCREENSHOTS:</vt:lpstr>
      <vt:lpstr>CONCLUSION:</vt:lpstr>
      <vt:lpstr>FUTURE WORK:</vt:lpstr>
      <vt:lpstr>REFERENCE: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EZHILARASAN T</dc:creator>
  <cp:lastModifiedBy>gowrisankar D</cp:lastModifiedBy>
  <cp:revision>2</cp:revision>
  <dcterms:created xsi:type="dcterms:W3CDTF">2025-10-26T11:07:43Z</dcterms:created>
  <dcterms:modified xsi:type="dcterms:W3CDTF">2025-10-26T14:06:00Z</dcterms:modified>
</cp:coreProperties>
</file>